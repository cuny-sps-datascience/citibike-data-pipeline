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seconds. The original proposal predicts station departures using weather and subway disruptions. This public-data MVP reduces spatial scope to Manhattan totals; it does not complete the original proposal. Labels use each trip start coordinate within Manhattan. These are served trips, not latent or unmet demand. The CityBikes public archive records inventory changes, rather than continuous station snapshots. Only 0.147% of its conservatively covered station hours have zero departures; that selection cannot support unconditional station forecasting. Each output is one separate hourly count, not a cumulative three-hour count. Course format: https://georgehagstrom.github.io/DATA622Fall2026/assignments/project.html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100 seconds. Training March 2025-March 2026, validation April-May 2026, test June-August 2026. Purge target intervals crossing split boundaries; ambiguous fall-back labels remain null. No recent trip lags or future trip properties are predictors. Forecast inputs use a five-minute cutoff, assumed 45-day monthly trip release and seven-hour weather run availability. Historical provider publication times are not established; early weather archives include hindcasts. The additional monthly evaluation gates fitting, validation selection and refitting on assumed label release; June selects March validation, July and August select April. Earlier inspected test months remain retrospective evidence. Live collection and scoring run hourly at :55 UTC with one concurrent run and bounded timeouts. Calendar fallback covers stale/missing weather. Model artifacts and input packages are checked by SHA-256. A late retry preserved the first forecasts and publication times. Daily health measures forecast availability and source retrieval freshness; it cannot establish predictive accuracy. Daily evidence watches release versions, imports prepared validated outcomes and normalizes prospective station information and subway advisories. September data extends outcomes without retraining or activating a different model. Live dashboard: https://dbc-d00cbd4c-c74c.cloud.databricks.com/editor/notebooks/2763628353985993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110 seconds. Release-aware monthly selection gives pooled MAE 767.77 versus the weekly profile 1386.49 on 6552 common rows. June chooses weather alpha 1.0; July and August choose alpha 0.1. Monthly MAEs are 734.30, 839.87 and 727.24. June calendar comparison is better at 649.80. The original frozen model test remains 761.00 on 6564 rows; it is a different design and the new analysis does not promote a model. The extra monthly-boundary purge explains the row-count difference. These months were already inspected, so this is not a new independent holdout. The comparison pools overlapping targets across three horizons; rows are not independent. Calendar and weather comparisons use the same covered keys. This is retrospective accuracy under availability and hindcast assumptions, not measured live accuracy or a causal effect. Current 250m/500m station-to-subway mapping is dated from retrieval and cannot be backfilled into historical training. Straight-line proximity is not walking distance; reference daytime route names are not proof of disrupted service. Reliable operation history, historical alerts and class deployment/sharing remain open. No production MAE is available until genuine trip outcomes mature. Live demo, five minutes: 1) dashboard, horizons and publication timing; 2) model comparison and plot; 3) hourly job graph/latest success; 4) mapping coverage and weather handoff; 5) daily health and empty live evaluation. Before presenting, refresh dashboard and checks without retraining. Full notes: docs/public_mvp_demo.md. Metrics: docs/manhattan_benchmark_model_card.md. September outcomes and weather are prepared as a separate data refresh. They cannot evaluate October live forecasts. Timed navigation: docs/midterm_demo_script.md. Public station sources: https://gbfs.citibikenyc.com/gbfs/gbfs.json and https://data.ny.gov/Transportation/MTA-Subway-Stations/39hk-dx4f/about_data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bc-d00cbd4c-c74c.cloud.databricks.com/editor/notebooks/2763628353985993" TargetMode="External"/><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8912" y="393192"/>
            <a:ext cx="64008" cy="219456"/>
          </a:xfrm>
          <a:prstGeom prst="rect">
            <a:avLst/>
          </a:prstGeom>
          <a:solidFill>
            <a:srgbClr val="00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292608"/>
          </a:xfrm>
          <a:prstGeom prst="rect">
            <a:avLst/>
          </a:prstGeom>
          <a:noFill/>
        </p:spPr>
        <p:txBody>
          <a:bodyPr wrap="none" lIns="0" rIns="0" tIns="0" bIns="0">
            <a:spAutoFit/>
          </a:bodyPr>
          <a:lstStyle/>
          <a:p>
            <a:pPr>
              <a:lnSpc>
                <a:spcPts val="1342"/>
              </a:lnSpc>
              <a:spcBef>
                <a:spcPts val="0"/>
              </a:spcBef>
              <a:spcAft>
                <a:spcPts val="0"/>
              </a:spcAft>
            </a:pPr>
            <a:r>
              <a:rPr sz="1100" b="1">
                <a:solidFill>
                  <a:srgbClr val="007F7B"/>
                </a:solidFill>
                <a:latin typeface="Arial"/>
              </a:rPr>
              <a:t>DATA 622  /  RANDY HOWK  /  PROBLEM + SCOPE</a:t>
            </a:r>
          </a:p>
        </p:txBody>
      </p:sp>
      <p:sp>
        <p:nvSpPr>
          <p:cNvPr id="5" name="TextBox 4"/>
          <p:cNvSpPr txBox="1"/>
          <p:nvPr/>
        </p:nvSpPr>
        <p:spPr>
          <a:xfrm>
            <a:off x="594360" y="868680"/>
            <a:ext cx="10972800" cy="594360"/>
          </a:xfrm>
          <a:prstGeom prst="rect">
            <a:avLst/>
          </a:prstGeom>
          <a:noFill/>
        </p:spPr>
        <p:txBody>
          <a:bodyPr wrap="none" lIns="0" rIns="0" tIns="0" bIns="0">
            <a:spAutoFit/>
          </a:bodyPr>
          <a:lstStyle/>
          <a:p>
            <a:pPr>
              <a:lnSpc>
                <a:spcPts val="3782"/>
              </a:lnSpc>
              <a:spcBef>
                <a:spcPts val="0"/>
              </a:spcBef>
              <a:spcAft>
                <a:spcPts val="0"/>
              </a:spcAft>
            </a:pPr>
            <a:r>
              <a:rPr sz="3100" b="1">
                <a:solidFill>
                  <a:srgbClr val="102A43"/>
                </a:solidFill>
                <a:latin typeface="Arial"/>
              </a:rPr>
              <a:t>Citi Bike departures, three hours ahead</a:t>
            </a:r>
          </a:p>
        </p:txBody>
      </p:sp>
      <p:sp>
        <p:nvSpPr>
          <p:cNvPr id="6" name="TextBox 5"/>
          <p:cNvSpPr txBox="1"/>
          <p:nvPr/>
        </p:nvSpPr>
        <p:spPr>
          <a:xfrm>
            <a:off x="612648" y="1536192"/>
            <a:ext cx="10972800" cy="438912"/>
          </a:xfrm>
          <a:prstGeom prst="rect">
            <a:avLst/>
          </a:prstGeom>
          <a:noFill/>
        </p:spPr>
        <p:txBody>
          <a:bodyPr wrap="none" lIns="0" rIns="0" tIns="0" bIns="0">
            <a:spAutoFit/>
          </a:bodyPr>
          <a:lstStyle/>
          <a:p>
            <a:pPr>
              <a:lnSpc>
                <a:spcPts val="1707"/>
              </a:lnSpc>
              <a:spcBef>
                <a:spcPts val="0"/>
              </a:spcBef>
              <a:spcAft>
                <a:spcPts val="0"/>
              </a:spcAft>
            </a:pPr>
            <a:r>
              <a:rPr sz="1400" b="0">
                <a:solidFill>
                  <a:srgbClr val="526577"/>
                </a:solidFill>
                <a:latin typeface="Arial"/>
              </a:rPr>
              <a:t>A working Manhattan-total forecast using public trips and forecast weather in Databricks Free Edition.</a:t>
            </a:r>
          </a:p>
        </p:txBody>
      </p:sp>
      <p:cxnSp>
        <p:nvCxnSpPr>
          <p:cNvPr id="7" name="Connector 6"/>
          <p:cNvCxnSpPr/>
          <p:nvPr/>
        </p:nvCxnSpPr>
        <p:spPr>
          <a:xfrm>
            <a:off x="594360" y="6455664"/>
            <a:ext cx="11000232" cy="0"/>
          </a:xfrm>
          <a:prstGeom prst="line">
            <a:avLst/>
          </a:prstGeom>
          <a:ln w="8890">
            <a:solidFill>
              <a:srgbClr val="D7E1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12648" y="6556248"/>
            <a:ext cx="10058400" cy="182880"/>
          </a:xfrm>
          <a:prstGeom prst="rect">
            <a:avLst/>
          </a:prstGeom>
          <a:noFill/>
        </p:spPr>
        <p:txBody>
          <a:bodyPr wrap="none" lIns="0" rIns="0" tIns="0" bIns="0">
            <a:spAutoFit/>
          </a:bodyPr>
          <a:lstStyle/>
          <a:p>
            <a:pPr>
              <a:lnSpc>
                <a:spcPts val="1098"/>
              </a:lnSpc>
              <a:spcBef>
                <a:spcPts val="0"/>
              </a:spcBef>
              <a:spcAft>
                <a:spcPts val="0"/>
              </a:spcAft>
            </a:pPr>
            <a:r>
              <a:rPr sz="900" b="0">
                <a:solidFill>
                  <a:srgbClr val="526577"/>
                </a:solidFill>
                <a:latin typeface="Arial"/>
              </a:rPr>
              <a:t>PUBLIC-DATA MVP  |  Prepared 2026-10-16  |  Manhattan totals</a:t>
            </a:r>
          </a:p>
        </p:txBody>
      </p:sp>
      <p:sp>
        <p:nvSpPr>
          <p:cNvPr id="9" name="TextBox 8"/>
          <p:cNvSpPr txBox="1"/>
          <p:nvPr/>
        </p:nvSpPr>
        <p:spPr>
          <a:xfrm>
            <a:off x="11109960" y="6519672"/>
            <a:ext cx="457200" cy="274320"/>
          </a:xfrm>
          <a:prstGeom prst="rect">
            <a:avLst/>
          </a:prstGeom>
          <a:noFill/>
        </p:spPr>
        <p:txBody>
          <a:bodyPr wrap="none" lIns="0" rIns="0" tIns="0" bIns="0">
            <a:spAutoFit/>
          </a:bodyPr>
          <a:lstStyle/>
          <a:p>
            <a:pPr>
              <a:lnSpc>
                <a:spcPts val="1464"/>
              </a:lnSpc>
              <a:spcBef>
                <a:spcPts val="0"/>
              </a:spcBef>
              <a:spcAft>
                <a:spcPts val="0"/>
              </a:spcAft>
            </a:pPr>
            <a:r>
              <a:rPr sz="1200" b="1">
                <a:solidFill>
                  <a:srgbClr val="007F7B"/>
                </a:solidFill>
                <a:latin typeface="Arial"/>
              </a:rPr>
              <a:t>01</a:t>
            </a:r>
          </a:p>
        </p:txBody>
      </p:sp>
      <p:sp>
        <p:nvSpPr>
          <p:cNvPr id="10" name="Rounded Rectangle 9"/>
          <p:cNvSpPr/>
          <p:nvPr/>
        </p:nvSpPr>
        <p:spPr>
          <a:xfrm>
            <a:off x="594360" y="2176272"/>
            <a:ext cx="5074920" cy="2057400"/>
          </a:xfrm>
          <a:prstGeom prst="roundRect">
            <a:avLst>
              <a:gd name="adj" fmla="val 8000"/>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423160"/>
            <a:ext cx="4480560" cy="365760"/>
          </a:xfrm>
          <a:prstGeom prst="rect">
            <a:avLst/>
          </a:prstGeom>
          <a:noFill/>
        </p:spPr>
        <p:txBody>
          <a:bodyPr wrap="none" lIns="0" rIns="0" tIns="0" bIns="0">
            <a:spAutoFit/>
          </a:bodyPr>
          <a:lstStyle/>
          <a:p>
            <a:pPr>
              <a:lnSpc>
                <a:spcPts val="2806"/>
              </a:lnSpc>
              <a:spcBef>
                <a:spcPts val="0"/>
              </a:spcBef>
              <a:spcAft>
                <a:spcPts val="0"/>
              </a:spcAft>
            </a:pPr>
            <a:r>
              <a:rPr sz="2300" b="1">
                <a:solidFill>
                  <a:srgbClr val="FFFFFF"/>
                </a:solidFill>
                <a:latin typeface="Arial"/>
              </a:rPr>
              <a:t>Plan for the next three hours</a:t>
            </a:r>
          </a:p>
        </p:txBody>
      </p:sp>
      <p:sp>
        <p:nvSpPr>
          <p:cNvPr id="12" name="TextBox 11"/>
          <p:cNvSpPr txBox="1"/>
          <p:nvPr/>
        </p:nvSpPr>
        <p:spPr>
          <a:xfrm>
            <a:off x="841248" y="3026664"/>
            <a:ext cx="4526280" cy="950976"/>
          </a:xfrm>
          <a:prstGeom prst="rect">
            <a:avLst/>
          </a:prstGeom>
          <a:noFill/>
        </p:spPr>
        <p:txBody>
          <a:bodyPr wrap="none" lIns="0" rIns="0" tIns="0" bIns="0">
            <a:spAutoFit/>
          </a:bodyPr>
          <a:lstStyle/>
          <a:p>
            <a:pPr>
              <a:lnSpc>
                <a:spcPts val="2074"/>
              </a:lnSpc>
              <a:spcBef>
                <a:spcPts val="0"/>
              </a:spcBef>
              <a:spcAft>
                <a:spcPts val="0"/>
              </a:spcAft>
            </a:pPr>
            <a:r>
              <a:rPr sz="1700" b="0">
                <a:solidFill>
                  <a:srgbClr val="FFFFFF"/>
                </a:solidFill>
                <a:latin typeface="Arial"/>
              </a:rPr>
              <a:t>Estimate served departures across Manhattan.</a:t>
            </a:r>
          </a:p>
          <a:p>
            <a:pPr>
              <a:lnSpc>
                <a:spcPts val="2074"/>
              </a:lnSpc>
              <a:spcBef>
                <a:spcPts val="0"/>
              </a:spcBef>
              <a:spcAft>
                <a:spcPts val="0"/>
              </a:spcAft>
            </a:pPr>
            <a:r>
              <a:rPr sz="1700" b="0">
                <a:solidFill>
                  <a:srgbClr val="FFFFFF"/>
                </a:solidFill>
                <a:latin typeface="Arial"/>
              </a:rPr>
              <a:t>Publish before the first target hour.</a:t>
            </a:r>
          </a:p>
          <a:p>
            <a:pPr>
              <a:lnSpc>
                <a:spcPts val="2074"/>
              </a:lnSpc>
              <a:spcBef>
                <a:spcPts val="0"/>
              </a:spcBef>
              <a:spcAft>
                <a:spcPts val="0"/>
              </a:spcAft>
            </a:pPr>
            <a:r>
              <a:rPr sz="1700" b="0">
                <a:solidFill>
                  <a:srgbClr val="FFFFFF"/>
                </a:solidFill>
                <a:latin typeface="Arial"/>
              </a:rPr>
              <a:t>Compare weather with a calendar fallback.</a:t>
            </a:r>
          </a:p>
        </p:txBody>
      </p:sp>
      <p:sp>
        <p:nvSpPr>
          <p:cNvPr id="13" name="Rounded Rectangle 12"/>
          <p:cNvSpPr/>
          <p:nvPr/>
        </p:nvSpPr>
        <p:spPr>
          <a:xfrm>
            <a:off x="5989320" y="2487168"/>
            <a:ext cx="1719072" cy="1353312"/>
          </a:xfrm>
          <a:prstGeom prst="roundRect">
            <a:avLst>
              <a:gd name="adj" fmla="val 8000"/>
            </a:avLst>
          </a:prstGeom>
          <a:solidFill>
            <a:srgbClr val="DDF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2715768"/>
            <a:ext cx="1463040" cy="274320"/>
          </a:xfrm>
          <a:prstGeom prst="rect">
            <a:avLst/>
          </a:prstGeom>
          <a:noFill/>
        </p:spPr>
        <p:txBody>
          <a:bodyPr wrap="none" lIns="0" rIns="0" tIns="0" bIns="0">
            <a:spAutoFit/>
          </a:bodyPr>
          <a:lstStyle/>
          <a:p>
            <a:pPr>
              <a:lnSpc>
                <a:spcPts val="1586"/>
              </a:lnSpc>
              <a:spcBef>
                <a:spcPts val="0"/>
              </a:spcBef>
              <a:spcAft>
                <a:spcPts val="0"/>
              </a:spcAft>
            </a:pPr>
            <a:r>
              <a:rPr sz="1300" b="1">
                <a:solidFill>
                  <a:srgbClr val="007F7B"/>
                </a:solidFill>
                <a:latin typeface="Arial"/>
              </a:rPr>
              <a:t>HOUR 1</a:t>
            </a:r>
          </a:p>
        </p:txBody>
      </p:sp>
      <p:sp>
        <p:nvSpPr>
          <p:cNvPr id="15" name="TextBox 14"/>
          <p:cNvSpPr txBox="1"/>
          <p:nvPr/>
        </p:nvSpPr>
        <p:spPr>
          <a:xfrm>
            <a:off x="6126480" y="3227832"/>
            <a:ext cx="1463040" cy="320040"/>
          </a:xfrm>
          <a:prstGeom prst="rect">
            <a:avLst/>
          </a:prstGeom>
          <a:noFill/>
        </p:spPr>
        <p:txBody>
          <a:bodyPr wrap="none" lIns="0" rIns="0" tIns="0" bIns="0">
            <a:spAutoFit/>
          </a:bodyPr>
          <a:lstStyle/>
          <a:p>
            <a:pPr>
              <a:lnSpc>
                <a:spcPts val="1707"/>
              </a:lnSpc>
              <a:spcBef>
                <a:spcPts val="0"/>
              </a:spcBef>
              <a:spcAft>
                <a:spcPts val="0"/>
              </a:spcAft>
            </a:pPr>
            <a:r>
              <a:rPr sz="1400" b="1">
                <a:solidFill>
                  <a:srgbClr val="15334B"/>
                </a:solidFill>
                <a:latin typeface="Arial"/>
              </a:rPr>
              <a:t>T to T+1</a:t>
            </a:r>
          </a:p>
        </p:txBody>
      </p:sp>
      <p:sp>
        <p:nvSpPr>
          <p:cNvPr id="16" name="Rounded Rectangle 15"/>
          <p:cNvSpPr/>
          <p:nvPr/>
        </p:nvSpPr>
        <p:spPr>
          <a:xfrm>
            <a:off x="7863840" y="2487168"/>
            <a:ext cx="1719072" cy="1353312"/>
          </a:xfrm>
          <a:prstGeom prst="roundRect">
            <a:avLst>
              <a:gd name="adj" fmla="val 8000"/>
            </a:avLst>
          </a:prstGeom>
          <a:solidFill>
            <a:srgbClr val="DDF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01000" y="2715768"/>
            <a:ext cx="1463040" cy="274320"/>
          </a:xfrm>
          <a:prstGeom prst="rect">
            <a:avLst/>
          </a:prstGeom>
          <a:noFill/>
        </p:spPr>
        <p:txBody>
          <a:bodyPr wrap="none" lIns="0" rIns="0" tIns="0" bIns="0">
            <a:spAutoFit/>
          </a:bodyPr>
          <a:lstStyle/>
          <a:p>
            <a:pPr>
              <a:lnSpc>
                <a:spcPts val="1586"/>
              </a:lnSpc>
              <a:spcBef>
                <a:spcPts val="0"/>
              </a:spcBef>
              <a:spcAft>
                <a:spcPts val="0"/>
              </a:spcAft>
            </a:pPr>
            <a:r>
              <a:rPr sz="1300" b="1">
                <a:solidFill>
                  <a:srgbClr val="007F7B"/>
                </a:solidFill>
                <a:latin typeface="Arial"/>
              </a:rPr>
              <a:t>HOUR 2</a:t>
            </a:r>
          </a:p>
        </p:txBody>
      </p:sp>
      <p:sp>
        <p:nvSpPr>
          <p:cNvPr id="18" name="TextBox 17"/>
          <p:cNvSpPr txBox="1"/>
          <p:nvPr/>
        </p:nvSpPr>
        <p:spPr>
          <a:xfrm>
            <a:off x="8001000" y="3227832"/>
            <a:ext cx="1463040" cy="320040"/>
          </a:xfrm>
          <a:prstGeom prst="rect">
            <a:avLst/>
          </a:prstGeom>
          <a:noFill/>
        </p:spPr>
        <p:txBody>
          <a:bodyPr wrap="none" lIns="0" rIns="0" tIns="0" bIns="0">
            <a:spAutoFit/>
          </a:bodyPr>
          <a:lstStyle/>
          <a:p>
            <a:pPr>
              <a:lnSpc>
                <a:spcPts val="1707"/>
              </a:lnSpc>
              <a:spcBef>
                <a:spcPts val="0"/>
              </a:spcBef>
              <a:spcAft>
                <a:spcPts val="0"/>
              </a:spcAft>
            </a:pPr>
            <a:r>
              <a:rPr sz="1400" b="1">
                <a:solidFill>
                  <a:srgbClr val="15334B"/>
                </a:solidFill>
                <a:latin typeface="Arial"/>
              </a:rPr>
              <a:t>T+1 to T+2</a:t>
            </a:r>
          </a:p>
        </p:txBody>
      </p:sp>
      <p:sp>
        <p:nvSpPr>
          <p:cNvPr id="19" name="Rounded Rectangle 18"/>
          <p:cNvSpPr/>
          <p:nvPr/>
        </p:nvSpPr>
        <p:spPr>
          <a:xfrm>
            <a:off x="9738359" y="2487168"/>
            <a:ext cx="1719072" cy="1353312"/>
          </a:xfrm>
          <a:prstGeom prst="roundRect">
            <a:avLst>
              <a:gd name="adj" fmla="val 8000"/>
            </a:avLst>
          </a:prstGeom>
          <a:solidFill>
            <a:srgbClr val="DDF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19" y="2715768"/>
            <a:ext cx="1463040" cy="274320"/>
          </a:xfrm>
          <a:prstGeom prst="rect">
            <a:avLst/>
          </a:prstGeom>
          <a:noFill/>
        </p:spPr>
        <p:txBody>
          <a:bodyPr wrap="none" lIns="0" rIns="0" tIns="0" bIns="0">
            <a:spAutoFit/>
          </a:bodyPr>
          <a:lstStyle/>
          <a:p>
            <a:pPr>
              <a:lnSpc>
                <a:spcPts val="1586"/>
              </a:lnSpc>
              <a:spcBef>
                <a:spcPts val="0"/>
              </a:spcBef>
              <a:spcAft>
                <a:spcPts val="0"/>
              </a:spcAft>
            </a:pPr>
            <a:r>
              <a:rPr sz="1300" b="1">
                <a:solidFill>
                  <a:srgbClr val="007F7B"/>
                </a:solidFill>
                <a:latin typeface="Arial"/>
              </a:rPr>
              <a:t>HOUR 3</a:t>
            </a:r>
          </a:p>
        </p:txBody>
      </p:sp>
      <p:sp>
        <p:nvSpPr>
          <p:cNvPr id="21" name="TextBox 20"/>
          <p:cNvSpPr txBox="1"/>
          <p:nvPr/>
        </p:nvSpPr>
        <p:spPr>
          <a:xfrm>
            <a:off x="9875519" y="3227832"/>
            <a:ext cx="1463040" cy="320040"/>
          </a:xfrm>
          <a:prstGeom prst="rect">
            <a:avLst/>
          </a:prstGeom>
          <a:noFill/>
        </p:spPr>
        <p:txBody>
          <a:bodyPr wrap="none" lIns="0" rIns="0" tIns="0" bIns="0">
            <a:spAutoFit/>
          </a:bodyPr>
          <a:lstStyle/>
          <a:p>
            <a:pPr>
              <a:lnSpc>
                <a:spcPts val="1707"/>
              </a:lnSpc>
              <a:spcBef>
                <a:spcPts val="0"/>
              </a:spcBef>
              <a:spcAft>
                <a:spcPts val="0"/>
              </a:spcAft>
            </a:pPr>
            <a:r>
              <a:rPr sz="1400" b="1">
                <a:solidFill>
                  <a:srgbClr val="15334B"/>
                </a:solidFill>
                <a:latin typeface="Arial"/>
              </a:rPr>
              <a:t>T+2 to T+3</a:t>
            </a:r>
          </a:p>
        </p:txBody>
      </p:sp>
      <p:sp>
        <p:nvSpPr>
          <p:cNvPr id="22" name="TextBox 21"/>
          <p:cNvSpPr txBox="1"/>
          <p:nvPr/>
        </p:nvSpPr>
        <p:spPr>
          <a:xfrm>
            <a:off x="6035040" y="3986784"/>
            <a:ext cx="5166360" cy="320040"/>
          </a:xfrm>
          <a:prstGeom prst="rect">
            <a:avLst/>
          </a:prstGeom>
          <a:noFill/>
        </p:spPr>
        <p:txBody>
          <a:bodyPr wrap="none" lIns="0" rIns="0" tIns="0" bIns="0">
            <a:spAutoFit/>
          </a:bodyPr>
          <a:lstStyle/>
          <a:p>
            <a:pPr>
              <a:lnSpc>
                <a:spcPts val="1830"/>
              </a:lnSpc>
              <a:spcBef>
                <a:spcPts val="0"/>
              </a:spcBef>
              <a:spcAft>
                <a:spcPts val="0"/>
              </a:spcAft>
            </a:pPr>
            <a:r>
              <a:rPr sz="1500" b="0">
                <a:solidFill>
                  <a:srgbClr val="526577"/>
                </a:solidFill>
                <a:latin typeface="Arial"/>
              </a:rPr>
              <a:t>Three separate hourly totals at each origin T</a:t>
            </a:r>
          </a:p>
        </p:txBody>
      </p:sp>
      <p:sp>
        <p:nvSpPr>
          <p:cNvPr id="23" name="Rounded Rectangle 22"/>
          <p:cNvSpPr/>
          <p:nvPr/>
        </p:nvSpPr>
        <p:spPr>
          <a:xfrm>
            <a:off x="594360" y="4599432"/>
            <a:ext cx="5074920" cy="1426464"/>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782312"/>
            <a:ext cx="4617720" cy="292608"/>
          </a:xfrm>
          <a:prstGeom prst="rect">
            <a:avLst/>
          </a:prstGeom>
          <a:noFill/>
        </p:spPr>
        <p:txBody>
          <a:bodyPr wrap="none" lIns="0" rIns="0" tIns="0" bIns="0">
            <a:spAutoFit/>
          </a:bodyPr>
          <a:lstStyle/>
          <a:p>
            <a:pPr>
              <a:lnSpc>
                <a:spcPts val="1464"/>
              </a:lnSpc>
              <a:spcBef>
                <a:spcPts val="0"/>
              </a:spcBef>
              <a:spcAft>
                <a:spcPts val="0"/>
              </a:spcAft>
            </a:pPr>
            <a:r>
              <a:rPr sz="1200" b="1">
                <a:solidFill>
                  <a:srgbClr val="007F7B"/>
                </a:solidFill>
                <a:latin typeface="Arial"/>
              </a:rPr>
              <a:t>IMPLEMENTED</a:t>
            </a:r>
          </a:p>
        </p:txBody>
      </p:sp>
      <p:sp>
        <p:nvSpPr>
          <p:cNvPr id="25" name="TextBox 24"/>
          <p:cNvSpPr txBox="1"/>
          <p:nvPr/>
        </p:nvSpPr>
        <p:spPr>
          <a:xfrm>
            <a:off x="804672" y="5202936"/>
            <a:ext cx="4617720" cy="594360"/>
          </a:xfrm>
          <a:prstGeom prst="rect">
            <a:avLst/>
          </a:prstGeom>
          <a:noFill/>
        </p:spPr>
        <p:txBody>
          <a:bodyPr wrap="none" lIns="0" rIns="0" tIns="0" bIns="0">
            <a:spAutoFit/>
          </a:bodyPr>
          <a:lstStyle/>
          <a:p>
            <a:pPr>
              <a:lnSpc>
                <a:spcPts val="1952"/>
              </a:lnSpc>
              <a:spcBef>
                <a:spcPts val="0"/>
              </a:spcBef>
              <a:spcAft>
                <a:spcPts val="0"/>
              </a:spcAft>
            </a:pPr>
            <a:r>
              <a:rPr sz="1600" b="0">
                <a:solidFill>
                  <a:srgbClr val="15334B"/>
                </a:solidFill>
                <a:latin typeface="Arial"/>
              </a:rPr>
              <a:t>Hourly forecasts + dashboard + daily health</a:t>
            </a:r>
          </a:p>
          <a:p>
            <a:pPr>
              <a:lnSpc>
                <a:spcPts val="1952"/>
              </a:lnSpc>
              <a:spcBef>
                <a:spcPts val="0"/>
              </a:spcBef>
              <a:spcAft>
                <a:spcPts val="0"/>
              </a:spcAft>
            </a:pPr>
            <a:r>
              <a:rPr sz="1600" b="0">
                <a:solidFill>
                  <a:srgbClr val="15334B"/>
                </a:solidFill>
                <a:latin typeface="Arial"/>
              </a:rPr>
              <a:t>Daily releases, outcomes and station evidence</a:t>
            </a:r>
          </a:p>
        </p:txBody>
      </p:sp>
      <p:sp>
        <p:nvSpPr>
          <p:cNvPr id="26" name="Rounded Rectangle 25"/>
          <p:cNvSpPr/>
          <p:nvPr/>
        </p:nvSpPr>
        <p:spPr>
          <a:xfrm>
            <a:off x="5989320" y="4599432"/>
            <a:ext cx="5577840" cy="1426464"/>
          </a:xfrm>
          <a:prstGeom prst="roundRect">
            <a:avLst>
              <a:gd name="adj" fmla="val 8000"/>
            </a:avLst>
          </a:prstGeom>
          <a:solidFill>
            <a:srgbClr val="FFF1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08776" y="4782312"/>
            <a:ext cx="5074920" cy="292608"/>
          </a:xfrm>
          <a:prstGeom prst="rect">
            <a:avLst/>
          </a:prstGeom>
          <a:noFill/>
        </p:spPr>
        <p:txBody>
          <a:bodyPr wrap="none" lIns="0" rIns="0" tIns="0" bIns="0">
            <a:spAutoFit/>
          </a:bodyPr>
          <a:lstStyle/>
          <a:p>
            <a:pPr>
              <a:lnSpc>
                <a:spcPts val="1464"/>
              </a:lnSpc>
              <a:spcBef>
                <a:spcPts val="0"/>
              </a:spcBef>
              <a:spcAft>
                <a:spcPts val="0"/>
              </a:spcAft>
            </a:pPr>
            <a:r>
              <a:rPr sz="1200" b="1">
                <a:solidFill>
                  <a:srgbClr val="A3530A"/>
                </a:solidFill>
                <a:latin typeface="Arial"/>
              </a:rPr>
              <a:t>WHY START WITH MANHATTAN?</a:t>
            </a:r>
          </a:p>
        </p:txBody>
      </p:sp>
      <p:sp>
        <p:nvSpPr>
          <p:cNvPr id="28" name="TextBox 27"/>
          <p:cNvSpPr txBox="1"/>
          <p:nvPr/>
        </p:nvSpPr>
        <p:spPr>
          <a:xfrm>
            <a:off x="6208776" y="5202936"/>
            <a:ext cx="5074920" cy="594360"/>
          </a:xfrm>
          <a:prstGeom prst="rect">
            <a:avLst/>
          </a:prstGeom>
          <a:noFill/>
        </p:spPr>
        <p:txBody>
          <a:bodyPr wrap="none" lIns="0" rIns="0" tIns="0" bIns="0">
            <a:spAutoFit/>
          </a:bodyPr>
          <a:lstStyle/>
          <a:p>
            <a:pPr>
              <a:lnSpc>
                <a:spcPts val="1952"/>
              </a:lnSpc>
              <a:spcBef>
                <a:spcPts val="0"/>
              </a:spcBef>
              <a:spcAft>
                <a:spcPts val="0"/>
              </a:spcAft>
            </a:pPr>
            <a:r>
              <a:rPr sz="1600" b="0">
                <a:solidFill>
                  <a:srgbClr val="15334B"/>
                </a:solidFill>
                <a:latin typeface="Arial"/>
              </a:rPr>
              <a:t>Station archive coverage depends on activity.</a:t>
            </a:r>
          </a:p>
          <a:p>
            <a:pPr>
              <a:lnSpc>
                <a:spcPts val="1952"/>
              </a:lnSpc>
              <a:spcBef>
                <a:spcPts val="0"/>
              </a:spcBef>
              <a:spcAft>
                <a:spcPts val="0"/>
              </a:spcAft>
            </a:pPr>
            <a:r>
              <a:rPr sz="1600" b="0">
                <a:solidFill>
                  <a:srgbClr val="15334B"/>
                </a:solidFill>
                <a:latin typeface="Arial"/>
              </a:rPr>
              <a:t>Reliable operation history is still needed.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8912" y="393192"/>
            <a:ext cx="64008" cy="219456"/>
          </a:xfrm>
          <a:prstGeom prst="rect">
            <a:avLst/>
          </a:prstGeom>
          <a:solidFill>
            <a:srgbClr val="00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292608"/>
          </a:xfrm>
          <a:prstGeom prst="rect">
            <a:avLst/>
          </a:prstGeom>
          <a:noFill/>
        </p:spPr>
        <p:txBody>
          <a:bodyPr wrap="none" lIns="0" rIns="0" tIns="0" bIns="0">
            <a:spAutoFit/>
          </a:bodyPr>
          <a:lstStyle/>
          <a:p>
            <a:pPr>
              <a:lnSpc>
                <a:spcPts val="1342"/>
              </a:lnSpc>
              <a:spcBef>
                <a:spcPts val="0"/>
              </a:spcBef>
              <a:spcAft>
                <a:spcPts val="0"/>
              </a:spcAft>
            </a:pPr>
            <a:r>
              <a:rPr sz="1100" b="1">
                <a:solidFill>
                  <a:srgbClr val="007F7B"/>
                </a:solidFill>
                <a:latin typeface="Arial"/>
              </a:rPr>
              <a:t>DATA 622  /  RANDY HOWK  /  SYSTEM</a:t>
            </a:r>
          </a:p>
        </p:txBody>
      </p:sp>
      <p:sp>
        <p:nvSpPr>
          <p:cNvPr id="5" name="TextBox 4"/>
          <p:cNvSpPr txBox="1"/>
          <p:nvPr/>
        </p:nvSpPr>
        <p:spPr>
          <a:xfrm>
            <a:off x="594360" y="868680"/>
            <a:ext cx="10972800" cy="594360"/>
          </a:xfrm>
          <a:prstGeom prst="rect">
            <a:avLst/>
          </a:prstGeom>
          <a:noFill/>
        </p:spPr>
        <p:txBody>
          <a:bodyPr wrap="none" lIns="0" rIns="0" tIns="0" bIns="0">
            <a:spAutoFit/>
          </a:bodyPr>
          <a:lstStyle/>
          <a:p>
            <a:pPr>
              <a:lnSpc>
                <a:spcPts val="3782"/>
              </a:lnSpc>
              <a:spcBef>
                <a:spcPts val="0"/>
              </a:spcBef>
              <a:spcAft>
                <a:spcPts val="0"/>
              </a:spcAft>
            </a:pPr>
            <a:r>
              <a:rPr sz="3100" b="1">
                <a:solidFill>
                  <a:srgbClr val="102A43"/>
                </a:solidFill>
                <a:latin typeface="Arial"/>
              </a:rPr>
              <a:t>From public data to a persisted forecast</a:t>
            </a:r>
          </a:p>
        </p:txBody>
      </p:sp>
      <p:sp>
        <p:nvSpPr>
          <p:cNvPr id="6" name="TextBox 5"/>
          <p:cNvSpPr txBox="1"/>
          <p:nvPr/>
        </p:nvSpPr>
        <p:spPr>
          <a:xfrm>
            <a:off x="612648" y="1536192"/>
            <a:ext cx="10972800" cy="438912"/>
          </a:xfrm>
          <a:prstGeom prst="rect">
            <a:avLst/>
          </a:prstGeom>
          <a:noFill/>
        </p:spPr>
        <p:txBody>
          <a:bodyPr wrap="none" lIns="0" rIns="0" tIns="0" bIns="0">
            <a:spAutoFit/>
          </a:bodyPr>
          <a:lstStyle/>
          <a:p>
            <a:pPr>
              <a:lnSpc>
                <a:spcPts val="1707"/>
              </a:lnSpc>
              <a:spcBef>
                <a:spcPts val="0"/>
              </a:spcBef>
              <a:spcAft>
                <a:spcPts val="0"/>
              </a:spcAft>
            </a:pPr>
            <a:r>
              <a:rPr sz="1400" b="0">
                <a:solidFill>
                  <a:srgbClr val="526577"/>
                </a:solidFill>
                <a:latin typeface="Arial"/>
              </a:rPr>
              <a:t>Bulk trips stay on the RAID. Compact features, models, forecasts and health reports live in Databricks.</a:t>
            </a:r>
          </a:p>
        </p:txBody>
      </p:sp>
      <p:cxnSp>
        <p:nvCxnSpPr>
          <p:cNvPr id="7" name="Connector 6"/>
          <p:cNvCxnSpPr/>
          <p:nvPr/>
        </p:nvCxnSpPr>
        <p:spPr>
          <a:xfrm>
            <a:off x="594360" y="6455664"/>
            <a:ext cx="11000232" cy="0"/>
          </a:xfrm>
          <a:prstGeom prst="line">
            <a:avLst/>
          </a:prstGeom>
          <a:ln w="8890">
            <a:solidFill>
              <a:srgbClr val="D7E1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12648" y="6556248"/>
            <a:ext cx="10058400" cy="182880"/>
          </a:xfrm>
          <a:prstGeom prst="rect">
            <a:avLst/>
          </a:prstGeom>
          <a:noFill/>
        </p:spPr>
        <p:txBody>
          <a:bodyPr wrap="none" lIns="0" rIns="0" tIns="0" bIns="0">
            <a:spAutoFit/>
          </a:bodyPr>
          <a:lstStyle/>
          <a:p>
            <a:pPr>
              <a:lnSpc>
                <a:spcPts val="1098"/>
              </a:lnSpc>
              <a:spcBef>
                <a:spcPts val="0"/>
              </a:spcBef>
              <a:spcAft>
                <a:spcPts val="0"/>
              </a:spcAft>
            </a:pPr>
            <a:r>
              <a:rPr sz="900" b="0">
                <a:solidFill>
                  <a:srgbClr val="526577"/>
                </a:solidFill>
                <a:latin typeface="Arial"/>
              </a:rPr>
              <a:t>PUBLIC-DATA MVP  |  Prepared 2026-10-16  |  Manhattan totals</a:t>
            </a:r>
          </a:p>
        </p:txBody>
      </p:sp>
      <p:sp>
        <p:nvSpPr>
          <p:cNvPr id="9" name="TextBox 8"/>
          <p:cNvSpPr txBox="1"/>
          <p:nvPr/>
        </p:nvSpPr>
        <p:spPr>
          <a:xfrm>
            <a:off x="11109960" y="6519672"/>
            <a:ext cx="457200" cy="274320"/>
          </a:xfrm>
          <a:prstGeom prst="rect">
            <a:avLst/>
          </a:prstGeom>
          <a:noFill/>
        </p:spPr>
        <p:txBody>
          <a:bodyPr wrap="none" lIns="0" rIns="0" tIns="0" bIns="0">
            <a:spAutoFit/>
          </a:bodyPr>
          <a:lstStyle/>
          <a:p>
            <a:pPr>
              <a:lnSpc>
                <a:spcPts val="1464"/>
              </a:lnSpc>
              <a:spcBef>
                <a:spcPts val="0"/>
              </a:spcBef>
              <a:spcAft>
                <a:spcPts val="0"/>
              </a:spcAft>
            </a:pPr>
            <a:r>
              <a:rPr sz="1200" b="1">
                <a:solidFill>
                  <a:srgbClr val="007F7B"/>
                </a:solidFill>
                <a:latin typeface="Arial"/>
              </a:rPr>
              <a:t>02</a:t>
            </a:r>
          </a:p>
        </p:txBody>
      </p:sp>
      <p:sp>
        <p:nvSpPr>
          <p:cNvPr id="10" name="TextBox 9"/>
          <p:cNvSpPr txBox="1"/>
          <p:nvPr/>
        </p:nvSpPr>
        <p:spPr>
          <a:xfrm>
            <a:off x="777240" y="2057400"/>
            <a:ext cx="5029200" cy="274320"/>
          </a:xfrm>
          <a:prstGeom prst="rect">
            <a:avLst/>
          </a:prstGeom>
          <a:noFill/>
        </p:spPr>
        <p:txBody>
          <a:bodyPr wrap="none" lIns="0" rIns="0" tIns="0" bIns="0">
            <a:spAutoFit/>
          </a:bodyPr>
          <a:lstStyle/>
          <a:p>
            <a:pPr>
              <a:lnSpc>
                <a:spcPts val="1464"/>
              </a:lnSpc>
              <a:spcBef>
                <a:spcPts val="0"/>
              </a:spcBef>
              <a:spcAft>
                <a:spcPts val="0"/>
              </a:spcAft>
            </a:pPr>
            <a:r>
              <a:rPr sz="1200" b="1">
                <a:solidFill>
                  <a:srgbClr val="007F7B"/>
                </a:solidFill>
                <a:latin typeface="Arial"/>
              </a:rPr>
              <a:t>BATCH DEVELOPMENT</a:t>
            </a:r>
          </a:p>
        </p:txBody>
      </p:sp>
      <p:sp>
        <p:nvSpPr>
          <p:cNvPr id="11" name="TextBox 10"/>
          <p:cNvSpPr txBox="1"/>
          <p:nvPr/>
        </p:nvSpPr>
        <p:spPr>
          <a:xfrm>
            <a:off x="6629400" y="2057400"/>
            <a:ext cx="4663440" cy="274320"/>
          </a:xfrm>
          <a:prstGeom prst="rect">
            <a:avLst/>
          </a:prstGeom>
          <a:noFill/>
        </p:spPr>
        <p:txBody>
          <a:bodyPr wrap="none" lIns="0" rIns="0" tIns="0" bIns="0">
            <a:spAutoFit/>
          </a:bodyPr>
          <a:lstStyle/>
          <a:p>
            <a:pPr>
              <a:lnSpc>
                <a:spcPts val="1464"/>
              </a:lnSpc>
              <a:spcBef>
                <a:spcPts val="0"/>
              </a:spcBef>
              <a:spcAft>
                <a:spcPts val="0"/>
              </a:spcAft>
            </a:pPr>
            <a:r>
              <a:rPr sz="1200" b="1">
                <a:solidFill>
                  <a:srgbClr val="007F7B"/>
                </a:solidFill>
                <a:latin typeface="Arial"/>
              </a:rPr>
              <a:t>HOURLY SERVING  /  :55 UTC</a:t>
            </a:r>
          </a:p>
        </p:txBody>
      </p:sp>
      <p:sp>
        <p:nvSpPr>
          <p:cNvPr id="12" name="Rounded Rectangle 11"/>
          <p:cNvSpPr/>
          <p:nvPr/>
        </p:nvSpPr>
        <p:spPr>
          <a:xfrm>
            <a:off x="640080" y="2523744"/>
            <a:ext cx="5029200" cy="722376"/>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2624327"/>
            <a:ext cx="4681728" cy="301752"/>
          </a:xfrm>
          <a:prstGeom prst="rect">
            <a:avLst/>
          </a:prstGeom>
          <a:noFill/>
        </p:spPr>
        <p:txBody>
          <a:bodyPr wrap="none" lIns="0" rIns="0" tIns="0" bIns="0">
            <a:spAutoFit/>
          </a:bodyPr>
          <a:lstStyle/>
          <a:p>
            <a:pPr>
              <a:lnSpc>
                <a:spcPts val="2196"/>
              </a:lnSpc>
              <a:spcBef>
                <a:spcPts val="0"/>
              </a:spcBef>
              <a:spcAft>
                <a:spcPts val="0"/>
              </a:spcAft>
            </a:pPr>
            <a:r>
              <a:rPr sz="1800" b="1">
                <a:solidFill>
                  <a:srgbClr val="15334B"/>
                </a:solidFill>
                <a:latin typeface="Arial"/>
              </a:rPr>
              <a:t>Public trips + archived weather</a:t>
            </a:r>
          </a:p>
        </p:txBody>
      </p:sp>
      <p:sp>
        <p:nvSpPr>
          <p:cNvPr id="14" name="TextBox 13"/>
          <p:cNvSpPr txBox="1"/>
          <p:nvPr/>
        </p:nvSpPr>
        <p:spPr>
          <a:xfrm>
            <a:off x="804671" y="2962656"/>
            <a:ext cx="4681728" cy="228600"/>
          </a:xfrm>
          <a:prstGeom prst="rect">
            <a:avLst/>
          </a:prstGeom>
          <a:noFill/>
        </p:spPr>
        <p:txBody>
          <a:bodyPr wrap="none" lIns="0" rIns="0" tIns="0" bIns="0">
            <a:spAutoFit/>
          </a:bodyPr>
          <a:lstStyle/>
          <a:p>
            <a:pPr>
              <a:lnSpc>
                <a:spcPts val="1342"/>
              </a:lnSpc>
              <a:spcBef>
                <a:spcPts val="0"/>
              </a:spcBef>
              <a:spcAft>
                <a:spcPts val="0"/>
              </a:spcAft>
            </a:pPr>
            <a:r>
              <a:rPr sz="1100" b="0">
                <a:solidFill>
                  <a:srgbClr val="526577"/>
                </a:solidFill>
                <a:latin typeface="Arial"/>
              </a:rPr>
              <a:t>Geographic labels; released trip profiles</a:t>
            </a:r>
          </a:p>
        </p:txBody>
      </p:sp>
      <p:cxnSp>
        <p:nvCxnSpPr>
          <p:cNvPr id="15" name="Connector 14"/>
          <p:cNvCxnSpPr/>
          <p:nvPr/>
        </p:nvCxnSpPr>
        <p:spPr>
          <a:xfrm>
            <a:off x="3154680" y="3246120"/>
            <a:ext cx="0" cy="237743"/>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3090672" y="3419856"/>
            <a:ext cx="64008" cy="64007"/>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154680" y="3419856"/>
            <a:ext cx="64008" cy="64007"/>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0080" y="3483863"/>
            <a:ext cx="5029200" cy="722376"/>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1" y="3584447"/>
            <a:ext cx="4681728" cy="301752"/>
          </a:xfrm>
          <a:prstGeom prst="rect">
            <a:avLst/>
          </a:prstGeom>
          <a:noFill/>
        </p:spPr>
        <p:txBody>
          <a:bodyPr wrap="none" lIns="0" rIns="0" tIns="0" bIns="0">
            <a:spAutoFit/>
          </a:bodyPr>
          <a:lstStyle/>
          <a:p>
            <a:pPr>
              <a:lnSpc>
                <a:spcPts val="2196"/>
              </a:lnSpc>
              <a:spcBef>
                <a:spcPts val="0"/>
              </a:spcBef>
              <a:spcAft>
                <a:spcPts val="0"/>
              </a:spcAft>
            </a:pPr>
            <a:r>
              <a:rPr sz="1800" b="1">
                <a:solidFill>
                  <a:srgbClr val="15334B"/>
                </a:solidFill>
                <a:latin typeface="Arial"/>
              </a:rPr>
              <a:t>Chronological model comparison</a:t>
            </a:r>
          </a:p>
        </p:txBody>
      </p:sp>
      <p:sp>
        <p:nvSpPr>
          <p:cNvPr id="20" name="TextBox 19"/>
          <p:cNvSpPr txBox="1"/>
          <p:nvPr/>
        </p:nvSpPr>
        <p:spPr>
          <a:xfrm>
            <a:off x="804671" y="3922775"/>
            <a:ext cx="4681728" cy="228600"/>
          </a:xfrm>
          <a:prstGeom prst="rect">
            <a:avLst/>
          </a:prstGeom>
          <a:noFill/>
        </p:spPr>
        <p:txBody>
          <a:bodyPr wrap="none" lIns="0" rIns="0" tIns="0" bIns="0">
            <a:spAutoFit/>
          </a:bodyPr>
          <a:lstStyle/>
          <a:p>
            <a:pPr>
              <a:lnSpc>
                <a:spcPts val="1342"/>
              </a:lnSpc>
              <a:spcBef>
                <a:spcPts val="0"/>
              </a:spcBef>
              <a:spcAft>
                <a:spcPts val="0"/>
              </a:spcAft>
            </a:pPr>
            <a:r>
              <a:rPr sz="1100" b="0">
                <a:solidFill>
                  <a:srgbClr val="526577"/>
                </a:solidFill>
                <a:latin typeface="Arial"/>
              </a:rPr>
              <a:t>Initial selection + separate monthly release audit</a:t>
            </a:r>
          </a:p>
        </p:txBody>
      </p:sp>
      <p:cxnSp>
        <p:nvCxnSpPr>
          <p:cNvPr id="21" name="Connector 20"/>
          <p:cNvCxnSpPr/>
          <p:nvPr/>
        </p:nvCxnSpPr>
        <p:spPr>
          <a:xfrm>
            <a:off x="3154680" y="4206240"/>
            <a:ext cx="0" cy="237743"/>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3090672" y="4379975"/>
            <a:ext cx="64008" cy="64008"/>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154680" y="4379975"/>
            <a:ext cx="64008" cy="64008"/>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40080" y="4443983"/>
            <a:ext cx="5029200" cy="722376"/>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1" y="4544568"/>
            <a:ext cx="4681728" cy="301752"/>
          </a:xfrm>
          <a:prstGeom prst="rect">
            <a:avLst/>
          </a:prstGeom>
          <a:noFill/>
        </p:spPr>
        <p:txBody>
          <a:bodyPr wrap="none" lIns="0" rIns="0" tIns="0" bIns="0">
            <a:spAutoFit/>
          </a:bodyPr>
          <a:lstStyle/>
          <a:p>
            <a:pPr>
              <a:lnSpc>
                <a:spcPts val="2196"/>
              </a:lnSpc>
              <a:spcBef>
                <a:spcPts val="0"/>
              </a:spcBef>
              <a:spcAft>
                <a:spcPts val="0"/>
              </a:spcAft>
            </a:pPr>
            <a:r>
              <a:rPr sz="1800" b="1">
                <a:solidFill>
                  <a:srgbClr val="15334B"/>
                </a:solidFill>
                <a:latin typeface="Arial"/>
              </a:rPr>
              <a:t>Frozen model + MLflow report</a:t>
            </a:r>
          </a:p>
        </p:txBody>
      </p:sp>
      <p:sp>
        <p:nvSpPr>
          <p:cNvPr id="26" name="TextBox 25"/>
          <p:cNvSpPr txBox="1"/>
          <p:nvPr/>
        </p:nvSpPr>
        <p:spPr>
          <a:xfrm>
            <a:off x="804671" y="4882896"/>
            <a:ext cx="4681728" cy="228600"/>
          </a:xfrm>
          <a:prstGeom prst="rect">
            <a:avLst/>
          </a:prstGeom>
          <a:noFill/>
        </p:spPr>
        <p:txBody>
          <a:bodyPr wrap="none" lIns="0" rIns="0" tIns="0" bIns="0">
            <a:spAutoFit/>
          </a:bodyPr>
          <a:lstStyle/>
          <a:p>
            <a:pPr>
              <a:lnSpc>
                <a:spcPts val="1342"/>
              </a:lnSpc>
              <a:spcBef>
                <a:spcPts val="0"/>
              </a:spcBef>
              <a:spcAft>
                <a:spcPts val="0"/>
              </a:spcAft>
            </a:pPr>
            <a:r>
              <a:rPr sz="1100" b="0">
                <a:solidFill>
                  <a:srgbClr val="526577"/>
                </a:solidFill>
                <a:latin typeface="Arial"/>
              </a:rPr>
              <a:t>Weather Poisson + calendar fallback</a:t>
            </a:r>
          </a:p>
        </p:txBody>
      </p:sp>
      <p:sp>
        <p:nvSpPr>
          <p:cNvPr id="27" name="Rounded Rectangle 26"/>
          <p:cNvSpPr/>
          <p:nvPr/>
        </p:nvSpPr>
        <p:spPr>
          <a:xfrm>
            <a:off x="6492240" y="2523744"/>
            <a:ext cx="5029200" cy="722376"/>
          </a:xfrm>
          <a:prstGeom prst="roundRect">
            <a:avLst>
              <a:gd name="adj" fmla="val 8000"/>
            </a:avLst>
          </a:prstGeom>
          <a:solidFill>
            <a:srgbClr val="DDF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56831" y="2624327"/>
            <a:ext cx="4681728" cy="301752"/>
          </a:xfrm>
          <a:prstGeom prst="rect">
            <a:avLst/>
          </a:prstGeom>
          <a:noFill/>
        </p:spPr>
        <p:txBody>
          <a:bodyPr wrap="none" lIns="0" rIns="0" tIns="0" bIns="0">
            <a:spAutoFit/>
          </a:bodyPr>
          <a:lstStyle/>
          <a:p>
            <a:pPr>
              <a:lnSpc>
                <a:spcPts val="2196"/>
              </a:lnSpc>
              <a:spcBef>
                <a:spcPts val="0"/>
              </a:spcBef>
              <a:spcAft>
                <a:spcPts val="0"/>
              </a:spcAft>
            </a:pPr>
            <a:r>
              <a:rPr sz="1800" b="1">
                <a:solidFill>
                  <a:srgbClr val="15334B"/>
                </a:solidFill>
                <a:latin typeface="Arial"/>
              </a:rPr>
              <a:t>Collect live public inputs</a:t>
            </a:r>
          </a:p>
        </p:txBody>
      </p:sp>
      <p:sp>
        <p:nvSpPr>
          <p:cNvPr id="29" name="TextBox 28"/>
          <p:cNvSpPr txBox="1"/>
          <p:nvPr/>
        </p:nvSpPr>
        <p:spPr>
          <a:xfrm>
            <a:off x="6656831" y="2962656"/>
            <a:ext cx="4681728" cy="228600"/>
          </a:xfrm>
          <a:prstGeom prst="rect">
            <a:avLst/>
          </a:prstGeom>
          <a:noFill/>
        </p:spPr>
        <p:txBody>
          <a:bodyPr wrap="none" lIns="0" rIns="0" tIns="0" bIns="0">
            <a:spAutoFit/>
          </a:bodyPr>
          <a:lstStyle/>
          <a:p>
            <a:pPr>
              <a:lnSpc>
                <a:spcPts val="1342"/>
              </a:lnSpc>
              <a:spcBef>
                <a:spcPts val="0"/>
              </a:spcBef>
              <a:spcAft>
                <a:spcPts val="0"/>
              </a:spcAft>
            </a:pPr>
            <a:r>
              <a:rPr sz="1100" b="0">
                <a:solidFill>
                  <a:srgbClr val="526577"/>
                </a:solidFill>
                <a:latin typeface="Arial"/>
              </a:rPr>
              <a:t>Forecast weather; GBFS; MTA alerts archived</a:t>
            </a:r>
          </a:p>
        </p:txBody>
      </p:sp>
      <p:cxnSp>
        <p:nvCxnSpPr>
          <p:cNvPr id="30" name="Connector 29"/>
          <p:cNvCxnSpPr/>
          <p:nvPr/>
        </p:nvCxnSpPr>
        <p:spPr>
          <a:xfrm>
            <a:off x="9006840" y="3246120"/>
            <a:ext cx="0" cy="237743"/>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8942832" y="3419856"/>
            <a:ext cx="64008" cy="64007"/>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9006840" y="3419856"/>
            <a:ext cx="64008" cy="64007"/>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492240" y="3483863"/>
            <a:ext cx="5029200" cy="722376"/>
          </a:xfrm>
          <a:prstGeom prst="roundRect">
            <a:avLst>
              <a:gd name="adj" fmla="val 8000"/>
            </a:avLst>
          </a:prstGeom>
          <a:solidFill>
            <a:srgbClr val="DDF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56831" y="3584447"/>
            <a:ext cx="4681728" cy="301752"/>
          </a:xfrm>
          <a:prstGeom prst="rect">
            <a:avLst/>
          </a:prstGeom>
          <a:noFill/>
        </p:spPr>
        <p:txBody>
          <a:bodyPr wrap="none" lIns="0" rIns="0" tIns="0" bIns="0">
            <a:spAutoFit/>
          </a:bodyPr>
          <a:lstStyle/>
          <a:p>
            <a:pPr>
              <a:lnSpc>
                <a:spcPts val="2196"/>
              </a:lnSpc>
              <a:spcBef>
                <a:spcPts val="0"/>
              </a:spcBef>
              <a:spcAft>
                <a:spcPts val="0"/>
              </a:spcAft>
            </a:pPr>
            <a:r>
              <a:rPr sz="1800" b="1">
                <a:solidFill>
                  <a:srgbClr val="15334B"/>
                </a:solidFill>
                <a:latin typeface="Arial"/>
              </a:rPr>
              <a:t>Score the next three hours</a:t>
            </a:r>
          </a:p>
        </p:txBody>
      </p:sp>
      <p:sp>
        <p:nvSpPr>
          <p:cNvPr id="35" name="TextBox 34"/>
          <p:cNvSpPr txBox="1"/>
          <p:nvPr/>
        </p:nvSpPr>
        <p:spPr>
          <a:xfrm>
            <a:off x="6656831" y="3922775"/>
            <a:ext cx="4681728" cy="228600"/>
          </a:xfrm>
          <a:prstGeom prst="rect">
            <a:avLst/>
          </a:prstGeom>
          <a:noFill/>
        </p:spPr>
        <p:txBody>
          <a:bodyPr wrap="none" lIns="0" rIns="0" tIns="0" bIns="0">
            <a:spAutoFit/>
          </a:bodyPr>
          <a:lstStyle/>
          <a:p>
            <a:pPr>
              <a:lnSpc>
                <a:spcPts val="1342"/>
              </a:lnSpc>
              <a:spcBef>
                <a:spcPts val="0"/>
              </a:spcBef>
              <a:spcAft>
                <a:spcPts val="0"/>
              </a:spcAft>
            </a:pPr>
            <a:r>
              <a:rPr sz="1100" b="0">
                <a:solidFill>
                  <a:srgbClr val="526577"/>
                </a:solidFill>
                <a:latin typeface="Arial"/>
              </a:rPr>
              <a:t>Weather when usable; calendar otherwise</a:t>
            </a:r>
          </a:p>
        </p:txBody>
      </p:sp>
      <p:cxnSp>
        <p:nvCxnSpPr>
          <p:cNvPr id="36" name="Connector 35"/>
          <p:cNvCxnSpPr/>
          <p:nvPr/>
        </p:nvCxnSpPr>
        <p:spPr>
          <a:xfrm>
            <a:off x="9006840" y="4206240"/>
            <a:ext cx="0" cy="237743"/>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8942832" y="4379975"/>
            <a:ext cx="64008" cy="64008"/>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9006840" y="4379975"/>
            <a:ext cx="64008" cy="64008"/>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492240" y="4443983"/>
            <a:ext cx="5029200" cy="722376"/>
          </a:xfrm>
          <a:prstGeom prst="roundRect">
            <a:avLst>
              <a:gd name="adj" fmla="val 8000"/>
            </a:avLst>
          </a:prstGeom>
          <a:solidFill>
            <a:srgbClr val="DDF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56831" y="4544568"/>
            <a:ext cx="4681728" cy="301752"/>
          </a:xfrm>
          <a:prstGeom prst="rect">
            <a:avLst/>
          </a:prstGeom>
          <a:noFill/>
        </p:spPr>
        <p:txBody>
          <a:bodyPr wrap="none" lIns="0" rIns="0" tIns="0" bIns="0">
            <a:spAutoFit/>
          </a:bodyPr>
          <a:lstStyle/>
          <a:p>
            <a:pPr>
              <a:lnSpc>
                <a:spcPts val="2196"/>
              </a:lnSpc>
              <a:spcBef>
                <a:spcPts val="0"/>
              </a:spcBef>
              <a:spcAft>
                <a:spcPts val="0"/>
              </a:spcAft>
            </a:pPr>
            <a:r>
              <a:rPr sz="1800" b="1">
                <a:solidFill>
                  <a:srgbClr val="15334B"/>
                </a:solidFill>
                <a:latin typeface="Arial"/>
              </a:rPr>
              <a:t>Persist -&gt; dashboard + daily health</a:t>
            </a:r>
          </a:p>
        </p:txBody>
      </p:sp>
      <p:sp>
        <p:nvSpPr>
          <p:cNvPr id="41" name="TextBox 40"/>
          <p:cNvSpPr txBox="1"/>
          <p:nvPr/>
        </p:nvSpPr>
        <p:spPr>
          <a:xfrm>
            <a:off x="6656831" y="4882896"/>
            <a:ext cx="4681728" cy="228600"/>
          </a:xfrm>
          <a:prstGeom prst="rect">
            <a:avLst/>
          </a:prstGeom>
          <a:noFill/>
        </p:spPr>
        <p:txBody>
          <a:bodyPr wrap="none" lIns="0" rIns="0" tIns="0" bIns="0">
            <a:spAutoFit/>
          </a:bodyPr>
          <a:lstStyle/>
          <a:p>
            <a:pPr>
              <a:lnSpc>
                <a:spcPts val="1342"/>
              </a:lnSpc>
              <a:spcBef>
                <a:spcPts val="0"/>
              </a:spcBef>
              <a:spcAft>
                <a:spcPts val="0"/>
              </a:spcAft>
            </a:pPr>
            <a:r>
              <a:rPr sz="1100" b="0">
                <a:solidFill>
                  <a:srgbClr val="526577"/>
                </a:solidFill>
                <a:latin typeface="Arial"/>
              </a:rPr>
              <a:t>Preserve first prediction; evaluate released outcomes</a:t>
            </a:r>
          </a:p>
        </p:txBody>
      </p:sp>
      <p:cxnSp>
        <p:nvCxnSpPr>
          <p:cNvPr id="42" name="Connector 41"/>
          <p:cNvCxnSpPr/>
          <p:nvPr/>
        </p:nvCxnSpPr>
        <p:spPr>
          <a:xfrm>
            <a:off x="5669280" y="4800600"/>
            <a:ext cx="411480" cy="0"/>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6080760" y="3840480"/>
            <a:ext cx="0" cy="960120"/>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080760" y="3840480"/>
            <a:ext cx="411480" cy="0"/>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6419088" y="3776472"/>
            <a:ext cx="73152" cy="64008"/>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6419088" y="3840480"/>
            <a:ext cx="73152" cy="64007"/>
          </a:xfrm>
          <a:prstGeom prst="line">
            <a:avLst/>
          </a:prstGeom>
          <a:ln w="25400">
            <a:solidFill>
              <a:srgbClr val="007F7B"/>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40080" y="5577840"/>
            <a:ext cx="10881360" cy="539496"/>
          </a:xfrm>
          <a:prstGeom prst="roundRect">
            <a:avLst>
              <a:gd name="adj" fmla="val 8000"/>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724144"/>
            <a:ext cx="10515600" cy="265176"/>
          </a:xfrm>
          <a:prstGeom prst="rect">
            <a:avLst/>
          </a:prstGeom>
          <a:noFill/>
        </p:spPr>
        <p:txBody>
          <a:bodyPr wrap="none" lIns="0" rIns="0" tIns="0" bIns="0">
            <a:spAutoFit/>
          </a:bodyPr>
          <a:lstStyle/>
          <a:p>
            <a:pPr>
              <a:lnSpc>
                <a:spcPts val="1707"/>
              </a:lnSpc>
              <a:spcBef>
                <a:spcPts val="0"/>
              </a:spcBef>
              <a:spcAft>
                <a:spcPts val="0"/>
              </a:spcAft>
            </a:pPr>
            <a:r>
              <a:rPr sz="1400" b="0">
                <a:solidFill>
                  <a:srgbClr val="FFFFFF"/>
                </a:solidFill>
                <a:latin typeface="Arial"/>
              </a:rPr>
              <a:t>Input cutoff T-5 min  |  Trip release +45 days*  |  Weather run +7 hours*  |  First publication wins</a:t>
            </a:r>
          </a:p>
        </p:txBody>
      </p:sp>
      <p:sp>
        <p:nvSpPr>
          <p:cNvPr id="49" name="TextBox 48"/>
          <p:cNvSpPr txBox="1"/>
          <p:nvPr/>
        </p:nvSpPr>
        <p:spPr>
          <a:xfrm>
            <a:off x="667512" y="6208776"/>
            <a:ext cx="10881360" cy="182880"/>
          </a:xfrm>
          <a:prstGeom prst="rect">
            <a:avLst/>
          </a:prstGeom>
          <a:noFill/>
        </p:spPr>
        <p:txBody>
          <a:bodyPr wrap="none" lIns="0" rIns="0" tIns="0" bIns="0">
            <a:spAutoFit/>
          </a:bodyPr>
          <a:lstStyle/>
          <a:p>
            <a:pPr>
              <a:lnSpc>
                <a:spcPts val="1098"/>
              </a:lnSpc>
              <a:spcBef>
                <a:spcPts val="0"/>
              </a:spcBef>
              <a:spcAft>
                <a:spcPts val="0"/>
              </a:spcAft>
            </a:pPr>
            <a:r>
              <a:rPr sz="900" b="0">
                <a:solidFill>
                  <a:srgbClr val="526577"/>
                </a:solidFill>
                <a:latin typeface="Arial"/>
              </a:rPr>
              <a:t>*Availability assumptions; early archived weather includes hindcasts. GBFS/MTA collection is not used by the current borough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8912" y="393192"/>
            <a:ext cx="64008" cy="219456"/>
          </a:xfrm>
          <a:prstGeom prst="rect">
            <a:avLst/>
          </a:prstGeom>
          <a:solidFill>
            <a:srgbClr val="00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058400" cy="292608"/>
          </a:xfrm>
          <a:prstGeom prst="rect">
            <a:avLst/>
          </a:prstGeom>
          <a:noFill/>
        </p:spPr>
        <p:txBody>
          <a:bodyPr wrap="none" lIns="0" rIns="0" tIns="0" bIns="0">
            <a:spAutoFit/>
          </a:bodyPr>
          <a:lstStyle/>
          <a:p>
            <a:pPr>
              <a:lnSpc>
                <a:spcPts val="1342"/>
              </a:lnSpc>
              <a:spcBef>
                <a:spcPts val="0"/>
              </a:spcBef>
              <a:spcAft>
                <a:spcPts val="0"/>
              </a:spcAft>
            </a:pPr>
            <a:r>
              <a:rPr sz="1100" b="1">
                <a:solidFill>
                  <a:srgbClr val="007F7B"/>
                </a:solidFill>
                <a:latin typeface="Arial"/>
              </a:rPr>
              <a:t>DATA 622  /  RANDY HOWK  /  EVIDENCE + NEXT STEPS</a:t>
            </a:r>
          </a:p>
        </p:txBody>
      </p:sp>
      <p:sp>
        <p:nvSpPr>
          <p:cNvPr id="5" name="TextBox 4"/>
          <p:cNvSpPr txBox="1"/>
          <p:nvPr/>
        </p:nvSpPr>
        <p:spPr>
          <a:xfrm>
            <a:off x="594360" y="868680"/>
            <a:ext cx="10972800" cy="594360"/>
          </a:xfrm>
          <a:prstGeom prst="rect">
            <a:avLst/>
          </a:prstGeom>
          <a:noFill/>
        </p:spPr>
        <p:txBody>
          <a:bodyPr wrap="none" lIns="0" rIns="0" tIns="0" bIns="0">
            <a:spAutoFit/>
          </a:bodyPr>
          <a:lstStyle/>
          <a:p>
            <a:pPr>
              <a:lnSpc>
                <a:spcPts val="3782"/>
              </a:lnSpc>
              <a:spcBef>
                <a:spcPts val="0"/>
              </a:spcBef>
              <a:spcAft>
                <a:spcPts val="0"/>
              </a:spcAft>
            </a:pPr>
            <a:r>
              <a:rPr sz="3100" b="1">
                <a:solidFill>
                  <a:srgbClr val="102A43"/>
                </a:solidFill>
                <a:latin typeface="Arial"/>
              </a:rPr>
              <a:t>A useful benchmark, with clear limits</a:t>
            </a:r>
          </a:p>
        </p:txBody>
      </p:sp>
      <p:sp>
        <p:nvSpPr>
          <p:cNvPr id="6" name="TextBox 5"/>
          <p:cNvSpPr txBox="1"/>
          <p:nvPr/>
        </p:nvSpPr>
        <p:spPr>
          <a:xfrm>
            <a:off x="612648" y="1536192"/>
            <a:ext cx="10972800" cy="438912"/>
          </a:xfrm>
          <a:prstGeom prst="rect">
            <a:avLst/>
          </a:prstGeom>
          <a:noFill/>
        </p:spPr>
        <p:txBody>
          <a:bodyPr wrap="none" lIns="0" rIns="0" tIns="0" bIns="0">
            <a:spAutoFit/>
          </a:bodyPr>
          <a:lstStyle/>
          <a:p>
            <a:pPr>
              <a:lnSpc>
                <a:spcPts val="1707"/>
              </a:lnSpc>
              <a:spcBef>
                <a:spcPts val="0"/>
              </a:spcBef>
              <a:spcAft>
                <a:spcPts val="0"/>
              </a:spcAft>
            </a:pPr>
            <a:r>
              <a:rPr sz="1400" b="0">
                <a:solidFill>
                  <a:srgbClr val="526577"/>
                </a:solidFill>
                <a:latin typeface="Arial"/>
              </a:rPr>
              <a:t>June-August 2026 release-aware backtests: 6,552 common forecast rows across three horizons.</a:t>
            </a:r>
          </a:p>
        </p:txBody>
      </p:sp>
      <p:cxnSp>
        <p:nvCxnSpPr>
          <p:cNvPr id="7" name="Connector 6"/>
          <p:cNvCxnSpPr/>
          <p:nvPr/>
        </p:nvCxnSpPr>
        <p:spPr>
          <a:xfrm>
            <a:off x="594360" y="6455664"/>
            <a:ext cx="11000232" cy="0"/>
          </a:xfrm>
          <a:prstGeom prst="line">
            <a:avLst/>
          </a:prstGeom>
          <a:ln w="8890">
            <a:solidFill>
              <a:srgbClr val="D7E1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12648" y="6556248"/>
            <a:ext cx="10058400" cy="182880"/>
          </a:xfrm>
          <a:prstGeom prst="rect">
            <a:avLst/>
          </a:prstGeom>
          <a:noFill/>
        </p:spPr>
        <p:txBody>
          <a:bodyPr wrap="none" lIns="0" rIns="0" tIns="0" bIns="0">
            <a:spAutoFit/>
          </a:bodyPr>
          <a:lstStyle/>
          <a:p>
            <a:pPr>
              <a:lnSpc>
                <a:spcPts val="1098"/>
              </a:lnSpc>
              <a:spcBef>
                <a:spcPts val="0"/>
              </a:spcBef>
              <a:spcAft>
                <a:spcPts val="0"/>
              </a:spcAft>
            </a:pPr>
            <a:r>
              <a:rPr sz="900" b="0">
                <a:solidFill>
                  <a:srgbClr val="526577"/>
                </a:solidFill>
                <a:latin typeface="Arial"/>
              </a:rPr>
              <a:t>PUBLIC-DATA MVP  |  Prepared 2026-10-16  |  Manhattan totals</a:t>
            </a:r>
          </a:p>
        </p:txBody>
      </p:sp>
      <p:sp>
        <p:nvSpPr>
          <p:cNvPr id="9" name="TextBox 8"/>
          <p:cNvSpPr txBox="1"/>
          <p:nvPr/>
        </p:nvSpPr>
        <p:spPr>
          <a:xfrm>
            <a:off x="11109960" y="6519672"/>
            <a:ext cx="457200" cy="274320"/>
          </a:xfrm>
          <a:prstGeom prst="rect">
            <a:avLst/>
          </a:prstGeom>
          <a:noFill/>
        </p:spPr>
        <p:txBody>
          <a:bodyPr wrap="none" lIns="0" rIns="0" tIns="0" bIns="0">
            <a:spAutoFit/>
          </a:bodyPr>
          <a:lstStyle/>
          <a:p>
            <a:pPr>
              <a:lnSpc>
                <a:spcPts val="1464"/>
              </a:lnSpc>
              <a:spcBef>
                <a:spcPts val="0"/>
              </a:spcBef>
              <a:spcAft>
                <a:spcPts val="0"/>
              </a:spcAft>
            </a:pPr>
            <a:r>
              <a:rPr sz="1200" b="1">
                <a:solidFill>
                  <a:srgbClr val="007F7B"/>
                </a:solidFill>
                <a:latin typeface="Arial"/>
              </a:rPr>
              <a:t>03</a:t>
            </a:r>
          </a:p>
        </p:txBody>
      </p:sp>
      <p:sp>
        <p:nvSpPr>
          <p:cNvPr id="10" name="TextBox 9"/>
          <p:cNvSpPr txBox="1"/>
          <p:nvPr/>
        </p:nvSpPr>
        <p:spPr>
          <a:xfrm>
            <a:off x="685800" y="2130552"/>
            <a:ext cx="5029200" cy="301752"/>
          </a:xfrm>
          <a:prstGeom prst="rect">
            <a:avLst/>
          </a:prstGeom>
          <a:noFill/>
        </p:spPr>
        <p:txBody>
          <a:bodyPr wrap="none" lIns="0" rIns="0" tIns="0" bIns="0">
            <a:spAutoFit/>
          </a:bodyPr>
          <a:lstStyle/>
          <a:p>
            <a:pPr>
              <a:lnSpc>
                <a:spcPts val="1464"/>
              </a:lnSpc>
              <a:spcBef>
                <a:spcPts val="0"/>
              </a:spcBef>
              <a:spcAft>
                <a:spcPts val="0"/>
              </a:spcAft>
            </a:pPr>
            <a:r>
              <a:rPr sz="1200" b="1">
                <a:solidFill>
                  <a:srgbClr val="526577"/>
                </a:solidFill>
                <a:latin typeface="Arial"/>
              </a:rPr>
              <a:t>MEAN ABSOLUTE ERROR  /  departures per hour</a:t>
            </a:r>
          </a:p>
        </p:txBody>
      </p:sp>
      <p:sp>
        <p:nvSpPr>
          <p:cNvPr id="11" name="TextBox 10"/>
          <p:cNvSpPr txBox="1"/>
          <p:nvPr/>
        </p:nvSpPr>
        <p:spPr>
          <a:xfrm>
            <a:off x="704088" y="2761488"/>
            <a:ext cx="4297680" cy="256032"/>
          </a:xfrm>
          <a:prstGeom prst="rect">
            <a:avLst/>
          </a:prstGeom>
          <a:noFill/>
        </p:spPr>
        <p:txBody>
          <a:bodyPr wrap="none" lIns="0" rIns="0" tIns="0" bIns="0">
            <a:spAutoFit/>
          </a:bodyPr>
          <a:lstStyle/>
          <a:p>
            <a:pPr>
              <a:lnSpc>
                <a:spcPts val="1830"/>
              </a:lnSpc>
              <a:spcBef>
                <a:spcPts val="0"/>
              </a:spcBef>
              <a:spcAft>
                <a:spcPts val="0"/>
              </a:spcAft>
            </a:pPr>
            <a:r>
              <a:rPr sz="1500" b="0">
                <a:solidFill>
                  <a:srgbClr val="15334B"/>
                </a:solidFill>
                <a:latin typeface="Arial"/>
              </a:rPr>
              <a:t>Hour-of-week profile</a:t>
            </a:r>
          </a:p>
        </p:txBody>
      </p:sp>
      <p:sp>
        <p:nvSpPr>
          <p:cNvPr id="12" name="Rounded Rectangle 11"/>
          <p:cNvSpPr/>
          <p:nvPr/>
        </p:nvSpPr>
        <p:spPr>
          <a:xfrm>
            <a:off x="713232" y="3072384"/>
            <a:ext cx="3886200" cy="201168"/>
          </a:xfrm>
          <a:prstGeom prst="roundRect">
            <a:avLst>
              <a:gd name="adj" fmla="val 8000"/>
            </a:avLst>
          </a:prstGeom>
          <a:solidFill>
            <a:srgbClr val="91A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3017520"/>
            <a:ext cx="731520" cy="320040"/>
          </a:xfrm>
          <a:prstGeom prst="rect">
            <a:avLst/>
          </a:prstGeom>
          <a:noFill/>
        </p:spPr>
        <p:txBody>
          <a:bodyPr wrap="none" lIns="0" rIns="0" tIns="0" bIns="0">
            <a:spAutoFit/>
          </a:bodyPr>
          <a:lstStyle/>
          <a:p>
            <a:pPr>
              <a:lnSpc>
                <a:spcPts val="1830"/>
              </a:lnSpc>
              <a:spcBef>
                <a:spcPts val="0"/>
              </a:spcBef>
              <a:spcAft>
                <a:spcPts val="0"/>
              </a:spcAft>
            </a:pPr>
            <a:r>
              <a:rPr sz="1500" b="1">
                <a:solidFill>
                  <a:srgbClr val="91A3B2"/>
                </a:solidFill>
                <a:latin typeface="Arial"/>
              </a:rPr>
              <a:t>1,386</a:t>
            </a:r>
          </a:p>
        </p:txBody>
      </p:sp>
      <p:sp>
        <p:nvSpPr>
          <p:cNvPr id="14" name="TextBox 13"/>
          <p:cNvSpPr txBox="1"/>
          <p:nvPr/>
        </p:nvSpPr>
        <p:spPr>
          <a:xfrm>
            <a:off x="704088" y="3703320"/>
            <a:ext cx="4297680" cy="256032"/>
          </a:xfrm>
          <a:prstGeom prst="rect">
            <a:avLst/>
          </a:prstGeom>
          <a:noFill/>
        </p:spPr>
        <p:txBody>
          <a:bodyPr wrap="none" lIns="0" rIns="0" tIns="0" bIns="0">
            <a:spAutoFit/>
          </a:bodyPr>
          <a:lstStyle/>
          <a:p>
            <a:pPr>
              <a:lnSpc>
                <a:spcPts val="1830"/>
              </a:lnSpc>
              <a:spcBef>
                <a:spcPts val="0"/>
              </a:spcBef>
              <a:spcAft>
                <a:spcPts val="0"/>
              </a:spcAft>
            </a:pPr>
            <a:r>
              <a:rPr sz="1500" b="1">
                <a:solidFill>
                  <a:srgbClr val="15334B"/>
                </a:solidFill>
                <a:latin typeface="Arial"/>
              </a:rPr>
              <a:t>Monthly selected weather model</a:t>
            </a:r>
          </a:p>
        </p:txBody>
      </p:sp>
      <p:sp>
        <p:nvSpPr>
          <p:cNvPr id="15" name="Rounded Rectangle 14"/>
          <p:cNvSpPr/>
          <p:nvPr/>
        </p:nvSpPr>
        <p:spPr>
          <a:xfrm>
            <a:off x="713232" y="4014215"/>
            <a:ext cx="2151988" cy="201168"/>
          </a:xfrm>
          <a:prstGeom prst="roundRect">
            <a:avLst>
              <a:gd name="adj" fmla="val 8000"/>
            </a:avLst>
          </a:prstGeom>
          <a:solidFill>
            <a:srgbClr val="00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4948" y="3959352"/>
            <a:ext cx="731520" cy="320040"/>
          </a:xfrm>
          <a:prstGeom prst="rect">
            <a:avLst/>
          </a:prstGeom>
          <a:noFill/>
        </p:spPr>
        <p:txBody>
          <a:bodyPr wrap="none" lIns="0" rIns="0" tIns="0" bIns="0">
            <a:spAutoFit/>
          </a:bodyPr>
          <a:lstStyle/>
          <a:p>
            <a:pPr>
              <a:lnSpc>
                <a:spcPts val="1830"/>
              </a:lnSpc>
              <a:spcBef>
                <a:spcPts val="0"/>
              </a:spcBef>
              <a:spcAft>
                <a:spcPts val="0"/>
              </a:spcAft>
            </a:pPr>
            <a:r>
              <a:rPr sz="1500" b="1">
                <a:solidFill>
                  <a:srgbClr val="007F7B"/>
                </a:solidFill>
                <a:latin typeface="Arial"/>
              </a:rPr>
              <a:t>768</a:t>
            </a:r>
          </a:p>
        </p:txBody>
      </p:sp>
      <p:sp>
        <p:nvSpPr>
          <p:cNvPr id="17" name="Rounded Rectangle 16"/>
          <p:cNvSpPr/>
          <p:nvPr/>
        </p:nvSpPr>
        <p:spPr>
          <a:xfrm>
            <a:off x="667512" y="4882896"/>
            <a:ext cx="4937760" cy="704088"/>
          </a:xfrm>
          <a:prstGeom prst="roundRect">
            <a:avLst>
              <a:gd name="adj" fmla="val 8000"/>
            </a:avLst>
          </a:prstGeom>
          <a:solidFill>
            <a:srgbClr val="DDF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5065776"/>
            <a:ext cx="4553712" cy="347472"/>
          </a:xfrm>
          <a:prstGeom prst="rect">
            <a:avLst/>
          </a:prstGeom>
          <a:noFill/>
        </p:spPr>
        <p:txBody>
          <a:bodyPr wrap="none" lIns="0" rIns="0" tIns="0" bIns="0">
            <a:spAutoFit/>
          </a:bodyPr>
          <a:lstStyle/>
          <a:p>
            <a:pPr>
              <a:lnSpc>
                <a:spcPts val="2196"/>
              </a:lnSpc>
              <a:spcBef>
                <a:spcPts val="0"/>
              </a:spcBef>
              <a:spcAft>
                <a:spcPts val="0"/>
              </a:spcAft>
            </a:pPr>
            <a:r>
              <a:rPr sz="1800" b="1">
                <a:solidFill>
                  <a:srgbClr val="007F7B"/>
                </a:solidFill>
                <a:latin typeface="Arial"/>
              </a:rPr>
              <a:t>44.6% lower MAE than the weekly profile</a:t>
            </a:r>
          </a:p>
        </p:txBody>
      </p:sp>
      <p:sp>
        <p:nvSpPr>
          <p:cNvPr id="19" name="TextBox 18"/>
          <p:cNvSpPr txBox="1"/>
          <p:nvPr/>
        </p:nvSpPr>
        <p:spPr>
          <a:xfrm>
            <a:off x="6035040" y="2157984"/>
            <a:ext cx="5394960" cy="320040"/>
          </a:xfrm>
          <a:prstGeom prst="rect">
            <a:avLst/>
          </a:prstGeom>
          <a:noFill/>
        </p:spPr>
        <p:txBody>
          <a:bodyPr wrap="none" lIns="0" rIns="0" tIns="0" bIns="0">
            <a:spAutoFit/>
          </a:bodyPr>
          <a:lstStyle/>
          <a:p>
            <a:pPr>
              <a:lnSpc>
                <a:spcPts val="1830"/>
              </a:lnSpc>
              <a:spcBef>
                <a:spcPts val="0"/>
              </a:spcBef>
              <a:spcAft>
                <a:spcPts val="0"/>
              </a:spcAft>
            </a:pPr>
            <a:r>
              <a:rPr sz="1500" b="1">
                <a:solidFill>
                  <a:srgbClr val="15334B"/>
                </a:solidFill>
                <a:latin typeface="Arial"/>
              </a:rPr>
              <a:t>Monthly selected model MAE</a:t>
            </a:r>
          </a:p>
        </p:txBody>
      </p:sp>
      <p:sp>
        <p:nvSpPr>
          <p:cNvPr id="20" name="TextBox 19"/>
          <p:cNvSpPr txBox="1"/>
          <p:nvPr/>
        </p:nvSpPr>
        <p:spPr>
          <a:xfrm>
            <a:off x="6080760" y="2724912"/>
            <a:ext cx="3383280" cy="274320"/>
          </a:xfrm>
          <a:prstGeom prst="rect">
            <a:avLst/>
          </a:prstGeom>
          <a:noFill/>
        </p:spPr>
        <p:txBody>
          <a:bodyPr wrap="none" lIns="0" rIns="0" tIns="0" bIns="0">
            <a:spAutoFit/>
          </a:bodyPr>
          <a:lstStyle/>
          <a:p>
            <a:pPr>
              <a:lnSpc>
                <a:spcPts val="1830"/>
              </a:lnSpc>
              <a:spcBef>
                <a:spcPts val="0"/>
              </a:spcBef>
              <a:spcAft>
                <a:spcPts val="0"/>
              </a:spcAft>
            </a:pPr>
            <a:r>
              <a:rPr sz="1500" b="0">
                <a:solidFill>
                  <a:srgbClr val="526577"/>
                </a:solidFill>
                <a:latin typeface="Arial"/>
              </a:rPr>
              <a:t>2026-06</a:t>
            </a:r>
          </a:p>
        </p:txBody>
      </p:sp>
      <p:sp>
        <p:nvSpPr>
          <p:cNvPr id="21" name="TextBox 20"/>
          <p:cNvSpPr txBox="1"/>
          <p:nvPr/>
        </p:nvSpPr>
        <p:spPr>
          <a:xfrm>
            <a:off x="9875520" y="2724912"/>
            <a:ext cx="1188720" cy="274320"/>
          </a:xfrm>
          <a:prstGeom prst="rect">
            <a:avLst/>
          </a:prstGeom>
          <a:noFill/>
        </p:spPr>
        <p:txBody>
          <a:bodyPr wrap="none" lIns="0" rIns="0" tIns="0" bIns="0">
            <a:spAutoFit/>
          </a:bodyPr>
          <a:lstStyle/>
          <a:p>
            <a:pPr>
              <a:lnSpc>
                <a:spcPts val="1830"/>
              </a:lnSpc>
              <a:spcBef>
                <a:spcPts val="0"/>
              </a:spcBef>
              <a:spcAft>
                <a:spcPts val="0"/>
              </a:spcAft>
            </a:pPr>
            <a:r>
              <a:rPr sz="1500" b="1">
                <a:solidFill>
                  <a:srgbClr val="007F7B"/>
                </a:solidFill>
                <a:latin typeface="Arial"/>
              </a:rPr>
              <a:t>734</a:t>
            </a:r>
          </a:p>
        </p:txBody>
      </p:sp>
      <p:sp>
        <p:nvSpPr>
          <p:cNvPr id="22" name="TextBox 21"/>
          <p:cNvSpPr txBox="1"/>
          <p:nvPr/>
        </p:nvSpPr>
        <p:spPr>
          <a:xfrm>
            <a:off x="6080760" y="3145536"/>
            <a:ext cx="3383280" cy="274320"/>
          </a:xfrm>
          <a:prstGeom prst="rect">
            <a:avLst/>
          </a:prstGeom>
          <a:noFill/>
        </p:spPr>
        <p:txBody>
          <a:bodyPr wrap="none" lIns="0" rIns="0" tIns="0" bIns="0">
            <a:spAutoFit/>
          </a:bodyPr>
          <a:lstStyle/>
          <a:p>
            <a:pPr>
              <a:lnSpc>
                <a:spcPts val="1830"/>
              </a:lnSpc>
              <a:spcBef>
                <a:spcPts val="0"/>
              </a:spcBef>
              <a:spcAft>
                <a:spcPts val="0"/>
              </a:spcAft>
            </a:pPr>
            <a:r>
              <a:rPr sz="1500" b="0">
                <a:solidFill>
                  <a:srgbClr val="526577"/>
                </a:solidFill>
                <a:latin typeface="Arial"/>
              </a:rPr>
              <a:t>2026-07</a:t>
            </a:r>
          </a:p>
        </p:txBody>
      </p:sp>
      <p:sp>
        <p:nvSpPr>
          <p:cNvPr id="23" name="TextBox 22"/>
          <p:cNvSpPr txBox="1"/>
          <p:nvPr/>
        </p:nvSpPr>
        <p:spPr>
          <a:xfrm>
            <a:off x="9875520" y="3145536"/>
            <a:ext cx="1188720" cy="274320"/>
          </a:xfrm>
          <a:prstGeom prst="rect">
            <a:avLst/>
          </a:prstGeom>
          <a:noFill/>
        </p:spPr>
        <p:txBody>
          <a:bodyPr wrap="none" lIns="0" rIns="0" tIns="0" bIns="0">
            <a:spAutoFit/>
          </a:bodyPr>
          <a:lstStyle/>
          <a:p>
            <a:pPr>
              <a:lnSpc>
                <a:spcPts val="1830"/>
              </a:lnSpc>
              <a:spcBef>
                <a:spcPts val="0"/>
              </a:spcBef>
              <a:spcAft>
                <a:spcPts val="0"/>
              </a:spcAft>
            </a:pPr>
            <a:r>
              <a:rPr sz="1500" b="1">
                <a:solidFill>
                  <a:srgbClr val="007F7B"/>
                </a:solidFill>
                <a:latin typeface="Arial"/>
              </a:rPr>
              <a:t>840</a:t>
            </a:r>
          </a:p>
        </p:txBody>
      </p:sp>
      <p:sp>
        <p:nvSpPr>
          <p:cNvPr id="24" name="TextBox 23"/>
          <p:cNvSpPr txBox="1"/>
          <p:nvPr/>
        </p:nvSpPr>
        <p:spPr>
          <a:xfrm>
            <a:off x="6080760" y="3566160"/>
            <a:ext cx="3383280" cy="274320"/>
          </a:xfrm>
          <a:prstGeom prst="rect">
            <a:avLst/>
          </a:prstGeom>
          <a:noFill/>
        </p:spPr>
        <p:txBody>
          <a:bodyPr wrap="none" lIns="0" rIns="0" tIns="0" bIns="0">
            <a:spAutoFit/>
          </a:bodyPr>
          <a:lstStyle/>
          <a:p>
            <a:pPr>
              <a:lnSpc>
                <a:spcPts val="1830"/>
              </a:lnSpc>
              <a:spcBef>
                <a:spcPts val="0"/>
              </a:spcBef>
              <a:spcAft>
                <a:spcPts val="0"/>
              </a:spcAft>
            </a:pPr>
            <a:r>
              <a:rPr sz="1500" b="0">
                <a:solidFill>
                  <a:srgbClr val="526577"/>
                </a:solidFill>
                <a:latin typeface="Arial"/>
              </a:rPr>
              <a:t>2026-08</a:t>
            </a:r>
          </a:p>
        </p:txBody>
      </p:sp>
      <p:sp>
        <p:nvSpPr>
          <p:cNvPr id="25" name="TextBox 24"/>
          <p:cNvSpPr txBox="1"/>
          <p:nvPr/>
        </p:nvSpPr>
        <p:spPr>
          <a:xfrm>
            <a:off x="9875520" y="3566160"/>
            <a:ext cx="1188720" cy="274320"/>
          </a:xfrm>
          <a:prstGeom prst="rect">
            <a:avLst/>
          </a:prstGeom>
          <a:noFill/>
        </p:spPr>
        <p:txBody>
          <a:bodyPr wrap="none" lIns="0" rIns="0" tIns="0" bIns="0">
            <a:spAutoFit/>
          </a:bodyPr>
          <a:lstStyle/>
          <a:p>
            <a:pPr>
              <a:lnSpc>
                <a:spcPts val="1830"/>
              </a:lnSpc>
              <a:spcBef>
                <a:spcPts val="0"/>
              </a:spcBef>
              <a:spcAft>
                <a:spcPts val="0"/>
              </a:spcAft>
            </a:pPr>
            <a:r>
              <a:rPr sz="1500" b="1">
                <a:solidFill>
                  <a:srgbClr val="007F7B"/>
                </a:solidFill>
                <a:latin typeface="Arial"/>
              </a:rPr>
              <a:t>727</a:t>
            </a:r>
          </a:p>
        </p:txBody>
      </p:sp>
      <p:sp>
        <p:nvSpPr>
          <p:cNvPr id="26" name="TextBox 25"/>
          <p:cNvSpPr txBox="1"/>
          <p:nvPr/>
        </p:nvSpPr>
        <p:spPr>
          <a:xfrm>
            <a:off x="6080760" y="4087368"/>
            <a:ext cx="5166360" cy="484632"/>
          </a:xfrm>
          <a:prstGeom prst="rect">
            <a:avLst/>
          </a:prstGeom>
          <a:noFill/>
        </p:spPr>
        <p:txBody>
          <a:bodyPr wrap="none" lIns="0" rIns="0" tIns="0" bIns="0">
            <a:spAutoFit/>
          </a:bodyPr>
          <a:lstStyle/>
          <a:p>
            <a:pPr>
              <a:lnSpc>
                <a:spcPts val="1586"/>
              </a:lnSpc>
              <a:spcBef>
                <a:spcPts val="0"/>
              </a:spcBef>
              <a:spcAft>
                <a:spcPts val="0"/>
              </a:spcAft>
            </a:pPr>
            <a:r>
              <a:rPr sz="1300" b="0">
                <a:solidFill>
                  <a:srgbClr val="A3530A"/>
                </a:solidFill>
                <a:latin typeface="Arial"/>
              </a:rPr>
              <a:t>June calendar model was better: 650 vs. 734.</a:t>
            </a:r>
          </a:p>
          <a:p>
            <a:pPr>
              <a:lnSpc>
                <a:spcPts val="1586"/>
              </a:lnSpc>
              <a:spcBef>
                <a:spcPts val="0"/>
              </a:spcBef>
              <a:spcAft>
                <a:spcPts val="0"/>
              </a:spcAft>
            </a:pPr>
            <a:r>
              <a:rPr sz="1300" b="0">
                <a:solidFill>
                  <a:srgbClr val="A3530A"/>
                </a:solidFill>
                <a:latin typeface="Arial"/>
              </a:rPr>
              <a:t>Weather does not improve every month.</a:t>
            </a:r>
          </a:p>
        </p:txBody>
      </p:sp>
      <p:sp>
        <p:nvSpPr>
          <p:cNvPr id="27" name="TextBox 26"/>
          <p:cNvSpPr txBox="1"/>
          <p:nvPr/>
        </p:nvSpPr>
        <p:spPr>
          <a:xfrm>
            <a:off x="6080760" y="4700016"/>
            <a:ext cx="5120640" cy="292608"/>
          </a:xfrm>
          <a:prstGeom prst="rect">
            <a:avLst/>
          </a:prstGeom>
          <a:noFill/>
        </p:spPr>
        <p:txBody>
          <a:bodyPr wrap="none" lIns="0" rIns="0" tIns="0" bIns="0">
            <a:spAutoFit/>
          </a:bodyPr>
          <a:lstStyle/>
          <a:p>
            <a:pPr>
              <a:lnSpc>
                <a:spcPts val="1342"/>
              </a:lnSpc>
              <a:spcBef>
                <a:spcPts val="0"/>
              </a:spcBef>
              <a:spcAft>
                <a:spcPts val="0"/>
              </a:spcAft>
            </a:pPr>
            <a:r>
              <a:rPr sz="1100" b="1">
                <a:solidFill>
                  <a:srgbClr val="A3530A"/>
                </a:solidFill>
                <a:latin typeface="Arial"/>
              </a:rPr>
              <a:t>REMAINING FOR THE ORIGINAL PROPOSAL</a:t>
            </a:r>
          </a:p>
        </p:txBody>
      </p:sp>
      <p:sp>
        <p:nvSpPr>
          <p:cNvPr id="28" name="TextBox 27"/>
          <p:cNvSpPr txBox="1"/>
          <p:nvPr/>
        </p:nvSpPr>
        <p:spPr>
          <a:xfrm>
            <a:off x="6080760" y="5074920"/>
            <a:ext cx="5193792" cy="813816"/>
          </a:xfrm>
          <a:prstGeom prst="rect">
            <a:avLst/>
          </a:prstGeom>
          <a:noFill/>
        </p:spPr>
        <p:txBody>
          <a:bodyPr wrap="none" lIns="0" rIns="0" tIns="0" bIns="0">
            <a:spAutoFit/>
          </a:bodyPr>
          <a:lstStyle/>
          <a:p>
            <a:pPr>
              <a:lnSpc>
                <a:spcPts val="1707"/>
              </a:lnSpc>
              <a:spcBef>
                <a:spcPts val="0"/>
              </a:spcBef>
              <a:spcAft>
                <a:spcPts val="0"/>
              </a:spcAft>
            </a:pPr>
            <a:r>
              <a:rPr sz="1400" b="0">
                <a:solidFill>
                  <a:srgbClr val="15334B"/>
                </a:solidFill>
                <a:latin typeface="Arial"/>
              </a:rPr>
              <a:t>Verified station history + historical alert evidence</a:t>
            </a:r>
          </a:p>
          <a:p>
            <a:pPr>
              <a:lnSpc>
                <a:spcPts val="1707"/>
              </a:lnSpc>
              <a:spcBef>
                <a:spcPts val="0"/>
              </a:spcBef>
              <a:spcAft>
                <a:spcPts val="0"/>
              </a:spcAft>
            </a:pPr>
            <a:r>
              <a:rPr sz="1400" b="0">
                <a:solidFill>
                  <a:srgbClr val="15334B"/>
                </a:solidFill>
                <a:latin typeface="Arial"/>
              </a:rPr>
              <a:t>Class deployment + documented shared catalog</a:t>
            </a:r>
          </a:p>
          <a:p>
            <a:pPr>
              <a:lnSpc>
                <a:spcPts val="1707"/>
              </a:lnSpc>
              <a:spcBef>
                <a:spcPts val="0"/>
              </a:spcBef>
              <a:spcAft>
                <a:spcPts val="0"/>
              </a:spcAft>
            </a:pPr>
            <a:r>
              <a:rPr sz="1400" b="0">
                <a:solidFill>
                  <a:srgbClr val="15334B"/>
                </a:solidFill>
                <a:latin typeface="Arial"/>
              </a:rPr>
              <a:t>Published live outcomes for production accuracy</a:t>
            </a:r>
          </a:p>
        </p:txBody>
      </p:sp>
      <p:sp>
        <p:nvSpPr>
          <p:cNvPr id="29" name="TextBox 28"/>
          <p:cNvSpPr txBox="1"/>
          <p:nvPr/>
        </p:nvSpPr>
        <p:spPr>
          <a:xfrm>
            <a:off x="713232" y="6025896"/>
            <a:ext cx="9235440" cy="210312"/>
          </a:xfrm>
          <a:prstGeom prst="rect">
            <a:avLst/>
          </a:prstGeom>
          <a:noFill/>
        </p:spPr>
        <p:txBody>
          <a:bodyPr wrap="none" lIns="0" rIns="0" tIns="0" bIns="0">
            <a:spAutoFit/>
          </a:bodyPr>
          <a:lstStyle/>
          <a:p>
            <a:pPr>
              <a:lnSpc>
                <a:spcPts val="1220"/>
              </a:lnSpc>
              <a:spcBef>
                <a:spcPts val="0"/>
              </a:spcBef>
              <a:spcAft>
                <a:spcPts val="0"/>
              </a:spcAft>
            </a:pPr>
            <a:r>
              <a:rPr sz="1000" b="0">
                <a:solidFill>
                  <a:srgbClr val="526577"/>
                </a:solidFill>
                <a:latin typeface="Arial"/>
              </a:rPr>
              <a:t>Retrospective evidence with release/hindcast assumptions. Active model frozen; live accuracy pending.</a:t>
            </a:r>
          </a:p>
        </p:txBody>
      </p:sp>
      <p:sp>
        <p:nvSpPr>
          <p:cNvPr id="30" name="TextBox 29"/>
          <p:cNvSpPr txBox="1"/>
          <p:nvPr/>
        </p:nvSpPr>
        <p:spPr>
          <a:xfrm>
            <a:off x="10149840" y="6016752"/>
            <a:ext cx="1353312" cy="274320"/>
          </a:xfrm>
          <a:prstGeom prst="rect">
            <a:avLst/>
          </a:prstGeom>
          <a:noFill/>
        </p:spPr>
        <p:txBody>
          <a:bodyPr wrap="none" lIns="0" rIns="0" tIns="0" bIns="0">
            <a:spAutoFit/>
          </a:bodyPr>
          <a:lstStyle/>
          <a:p>
            <a:pPr>
              <a:lnSpc>
                <a:spcPts val="1464"/>
              </a:lnSpc>
              <a:spcBef>
                <a:spcPts val="0"/>
              </a:spcBef>
              <a:spcAft>
                <a:spcPts val="0"/>
              </a:spcAft>
            </a:pPr>
            <a:r>
              <a:rPr sz="1200" b="1">
                <a:solidFill>
                  <a:srgbClr val="007F7B"/>
                </a:solidFill>
                <a:latin typeface="Arial"/>
                <a:hlinkClick r:id="rId2"/>
              </a:rPr>
              <a:t>Open live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 Bike: three-hour Manhattan forecast MVP</dc:title>
  <dc:subject/>
  <dc:creator>Randy Howk</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